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3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7/1/2026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7/1/2026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7/1/2026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7/1/2026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7/1/2026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7/1/2026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7/1/2026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7/1/2026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7/1/2026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7/1/2026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7/1/2026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7/1/2026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7/1/2026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7/1/2026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7/1/2026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7/1/2026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7/1/2026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7/1/2026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C050E-3A46-E136-E9F4-7A612FD2119E}"/>
              </a:ext>
            </a:extLst>
          </p:cNvPr>
          <p:cNvSpPr>
            <a:spLocks noGrp="1"/>
          </p:cNvSpPr>
          <p:nvPr>
            <p:ph type="ctrTitle"/>
          </p:nvPr>
        </p:nvSpPr>
        <p:spPr>
          <a:xfrm>
            <a:off x="1759974" y="-722048"/>
            <a:ext cx="8077764" cy="2677648"/>
          </a:xfrm>
        </p:spPr>
        <p:txBody>
          <a:bodyPr/>
          <a:lstStyle/>
          <a:p>
            <a:r>
              <a:rPr lang="en-US" sz="3200" b="1" dirty="0" err="1">
                <a:solidFill>
                  <a:schemeClr val="accent6"/>
                </a:solidFill>
              </a:rPr>
              <a:t>Opticrop</a:t>
            </a:r>
            <a:r>
              <a:rPr lang="en-US" sz="3200" b="1" dirty="0"/>
              <a:t>: Smart Agricultural production optimization engine</a:t>
            </a:r>
          </a:p>
        </p:txBody>
      </p:sp>
      <p:sp>
        <p:nvSpPr>
          <p:cNvPr id="3" name="Subtitle 2">
            <a:extLst>
              <a:ext uri="{FF2B5EF4-FFF2-40B4-BE49-F238E27FC236}">
                <a16:creationId xmlns:a16="http://schemas.microsoft.com/office/drawing/2014/main" id="{83C85192-BFDC-65C3-4641-9E5BDA7548E9}"/>
              </a:ext>
            </a:extLst>
          </p:cNvPr>
          <p:cNvSpPr>
            <a:spLocks noGrp="1"/>
          </p:cNvSpPr>
          <p:nvPr>
            <p:ph type="subTitle" idx="1"/>
          </p:nvPr>
        </p:nvSpPr>
        <p:spPr>
          <a:xfrm>
            <a:off x="1154955" y="2064773"/>
            <a:ext cx="8825658" cy="3932903"/>
          </a:xfrm>
        </p:spPr>
        <p:txBody>
          <a:bodyPr/>
          <a:lstStyle/>
          <a:p>
            <a:endParaRPr lang="en-US" dirty="0"/>
          </a:p>
          <a:p>
            <a:endParaRPr lang="en-US" dirty="0"/>
          </a:p>
          <a:p>
            <a:r>
              <a:rPr lang="en-US" sz="2000" dirty="0"/>
              <a:t>Time size            :</a:t>
            </a:r>
            <a:r>
              <a:rPr lang="en-US" sz="2000" dirty="0">
                <a:solidFill>
                  <a:schemeClr val="bg1"/>
                </a:solidFill>
              </a:rPr>
              <a:t> 5</a:t>
            </a:r>
            <a:endParaRPr lang="en-US" sz="2000" dirty="0"/>
          </a:p>
          <a:p>
            <a:r>
              <a:rPr lang="en-US" sz="2000" dirty="0"/>
              <a:t>Team leader   : </a:t>
            </a:r>
            <a:r>
              <a:rPr lang="en-US" sz="2000" dirty="0" err="1">
                <a:solidFill>
                  <a:schemeClr val="bg1"/>
                </a:solidFill>
              </a:rPr>
              <a:t>shaik</a:t>
            </a:r>
            <a:r>
              <a:rPr lang="en-US" sz="2000" dirty="0">
                <a:solidFill>
                  <a:schemeClr val="bg1"/>
                </a:solidFill>
              </a:rPr>
              <a:t> </a:t>
            </a:r>
            <a:r>
              <a:rPr lang="en-US" sz="2000" dirty="0" err="1">
                <a:solidFill>
                  <a:schemeClr val="bg1"/>
                </a:solidFill>
              </a:rPr>
              <a:t>masthan</a:t>
            </a:r>
            <a:r>
              <a:rPr lang="en-US" sz="2000" dirty="0">
                <a:solidFill>
                  <a:schemeClr val="bg1"/>
                </a:solidFill>
              </a:rPr>
              <a:t> </a:t>
            </a:r>
            <a:r>
              <a:rPr lang="en-US" sz="2000" dirty="0" err="1">
                <a:solidFill>
                  <a:schemeClr val="bg1"/>
                </a:solidFill>
              </a:rPr>
              <a:t>valli</a:t>
            </a:r>
            <a:endParaRPr lang="en-US" sz="2000" dirty="0"/>
          </a:p>
          <a:p>
            <a:r>
              <a:rPr lang="en-US" sz="2000" dirty="0"/>
              <a:t>Team members: </a:t>
            </a:r>
            <a:r>
              <a:rPr lang="en-US" sz="2000" dirty="0" err="1">
                <a:solidFill>
                  <a:schemeClr val="bg1"/>
                </a:solidFill>
              </a:rPr>
              <a:t>gangarapu</a:t>
            </a:r>
            <a:r>
              <a:rPr lang="en-US" sz="2000" dirty="0">
                <a:solidFill>
                  <a:schemeClr val="bg1"/>
                </a:solidFill>
              </a:rPr>
              <a:t> </a:t>
            </a:r>
            <a:r>
              <a:rPr lang="en-US" sz="2000" dirty="0" err="1">
                <a:solidFill>
                  <a:schemeClr val="bg1"/>
                </a:solidFill>
              </a:rPr>
              <a:t>hemaharshini</a:t>
            </a:r>
            <a:endParaRPr lang="en-US" sz="2000" dirty="0">
              <a:solidFill>
                <a:schemeClr val="bg1"/>
              </a:solidFill>
            </a:endParaRPr>
          </a:p>
          <a:p>
            <a:r>
              <a:rPr lang="en-US" sz="2000" dirty="0"/>
              <a:t>                              </a:t>
            </a:r>
            <a:r>
              <a:rPr lang="en-US" sz="2000" dirty="0" err="1">
                <a:solidFill>
                  <a:schemeClr val="bg1"/>
                </a:solidFill>
              </a:rPr>
              <a:t>pj</a:t>
            </a:r>
            <a:r>
              <a:rPr lang="en-US" sz="2000" dirty="0">
                <a:solidFill>
                  <a:schemeClr val="bg1"/>
                </a:solidFill>
              </a:rPr>
              <a:t> </a:t>
            </a:r>
            <a:r>
              <a:rPr lang="en-US" sz="2000" dirty="0" err="1">
                <a:solidFill>
                  <a:schemeClr val="bg1"/>
                </a:solidFill>
              </a:rPr>
              <a:t>likitha</a:t>
            </a:r>
            <a:r>
              <a:rPr lang="en-US" sz="2000" dirty="0">
                <a:solidFill>
                  <a:schemeClr val="bg1"/>
                </a:solidFill>
              </a:rPr>
              <a:t> </a:t>
            </a:r>
            <a:r>
              <a:rPr lang="en-US" sz="2000" dirty="0" err="1">
                <a:solidFill>
                  <a:schemeClr val="bg1"/>
                </a:solidFill>
              </a:rPr>
              <a:t>sri</a:t>
            </a:r>
            <a:endParaRPr lang="en-US" sz="2000" dirty="0">
              <a:solidFill>
                <a:schemeClr val="bg1"/>
              </a:solidFill>
            </a:endParaRPr>
          </a:p>
          <a:p>
            <a:r>
              <a:rPr lang="en-US" sz="2000" dirty="0">
                <a:solidFill>
                  <a:schemeClr val="bg1"/>
                </a:solidFill>
              </a:rPr>
              <a:t>                              </a:t>
            </a:r>
            <a:r>
              <a:rPr lang="en-US" sz="2000" dirty="0" err="1">
                <a:solidFill>
                  <a:schemeClr val="bg1"/>
                </a:solidFill>
              </a:rPr>
              <a:t>nelakotappagari</a:t>
            </a:r>
            <a:r>
              <a:rPr lang="en-US" sz="2000" dirty="0">
                <a:solidFill>
                  <a:schemeClr val="bg1"/>
                </a:solidFill>
              </a:rPr>
              <a:t> Tejaswini</a:t>
            </a:r>
          </a:p>
          <a:p>
            <a:r>
              <a:rPr lang="en-US" sz="2000" dirty="0">
                <a:solidFill>
                  <a:schemeClr val="bg1"/>
                </a:solidFill>
              </a:rPr>
              <a:t>                              Varadaiahgari bhavana</a:t>
            </a:r>
          </a:p>
          <a:p>
            <a:endParaRPr lang="en-US" sz="2400" dirty="0"/>
          </a:p>
        </p:txBody>
      </p:sp>
    </p:spTree>
    <p:extLst>
      <p:ext uri="{BB962C8B-B14F-4D97-AF65-F5344CB8AC3E}">
        <p14:creationId xmlns:p14="http://schemas.microsoft.com/office/powerpoint/2010/main" val="223348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1E21D-605A-82D0-FA6E-8A79A4A8D043}"/>
              </a:ext>
            </a:extLst>
          </p:cNvPr>
          <p:cNvSpPr>
            <a:spLocks noGrp="1"/>
          </p:cNvSpPr>
          <p:nvPr>
            <p:ph type="title"/>
          </p:nvPr>
        </p:nvSpPr>
        <p:spPr/>
        <p:txBody>
          <a:bodyPr/>
          <a:lstStyle/>
          <a:p>
            <a:r>
              <a:rPr lang="en-IN" b="1"/>
              <a:t>List of the contents </a:t>
            </a:r>
            <a:endParaRPr lang="en-US" b="1"/>
          </a:p>
        </p:txBody>
      </p:sp>
      <p:sp>
        <p:nvSpPr>
          <p:cNvPr id="3" name="Content Placeholder 2">
            <a:extLst>
              <a:ext uri="{FF2B5EF4-FFF2-40B4-BE49-F238E27FC236}">
                <a16:creationId xmlns:a16="http://schemas.microsoft.com/office/drawing/2014/main" id="{4CDFFC53-636C-D0D1-292C-9E3A63DC451A}"/>
              </a:ext>
            </a:extLst>
          </p:cNvPr>
          <p:cNvSpPr>
            <a:spLocks noGrp="1"/>
          </p:cNvSpPr>
          <p:nvPr>
            <p:ph idx="1"/>
          </p:nvPr>
        </p:nvSpPr>
        <p:spPr>
          <a:xfrm>
            <a:off x="1154954" y="2868690"/>
            <a:ext cx="8825659" cy="3416300"/>
          </a:xfrm>
        </p:spPr>
        <p:txBody>
          <a:bodyPr>
            <a:normAutofit lnSpcReduction="10000"/>
          </a:bodyPr>
          <a:lstStyle/>
          <a:p>
            <a:r>
              <a:rPr lang="en-IN" b="1"/>
              <a:t>Problem statement </a:t>
            </a:r>
          </a:p>
          <a:p>
            <a:r>
              <a:rPr lang="en-IN" b="1"/>
              <a:t>Abstart </a:t>
            </a:r>
          </a:p>
          <a:p>
            <a:r>
              <a:rPr lang="en-IN" b="1"/>
              <a:t>Proposed solution </a:t>
            </a:r>
          </a:p>
          <a:p>
            <a:r>
              <a:rPr lang="en-IN" b="1"/>
              <a:t>Target users </a:t>
            </a:r>
          </a:p>
          <a:p>
            <a:r>
              <a:rPr lang="en-IN" b="1"/>
              <a:t>Sample outcomes</a:t>
            </a:r>
          </a:p>
          <a:p>
            <a:r>
              <a:rPr lang="en-IN" b="1"/>
              <a:t>Use cases</a:t>
            </a:r>
          </a:p>
          <a:p>
            <a:r>
              <a:rPr lang="en-IN" b="1"/>
              <a:t> How it will work</a:t>
            </a:r>
          </a:p>
          <a:p>
            <a:r>
              <a:rPr lang="en-IN" b="1"/>
              <a:t>Summary</a:t>
            </a:r>
          </a:p>
          <a:p>
            <a:r>
              <a:rPr lang="en-IN" b="1"/>
              <a:t>Future and conclusion </a:t>
            </a:r>
          </a:p>
        </p:txBody>
      </p:sp>
      <p:pic>
        <p:nvPicPr>
          <p:cNvPr id="4" name="Picture 3">
            <a:extLst>
              <a:ext uri="{FF2B5EF4-FFF2-40B4-BE49-F238E27FC236}">
                <a16:creationId xmlns:a16="http://schemas.microsoft.com/office/drawing/2014/main" id="{04CB6E11-1EAC-B55D-985B-AE681C26F109}"/>
              </a:ext>
            </a:extLst>
          </p:cNvPr>
          <p:cNvPicPr>
            <a:picLocks noChangeAspect="1"/>
          </p:cNvPicPr>
          <p:nvPr/>
        </p:nvPicPr>
        <p:blipFill>
          <a:blip r:embed="rId2"/>
          <a:stretch>
            <a:fillRect/>
          </a:stretch>
        </p:blipFill>
        <p:spPr>
          <a:xfrm>
            <a:off x="5774531" y="2868690"/>
            <a:ext cx="4734346" cy="3320334"/>
          </a:xfrm>
          <a:prstGeom prst="rect">
            <a:avLst/>
          </a:prstGeom>
        </p:spPr>
      </p:pic>
    </p:spTree>
    <p:extLst>
      <p:ext uri="{BB962C8B-B14F-4D97-AF65-F5344CB8AC3E}">
        <p14:creationId xmlns:p14="http://schemas.microsoft.com/office/powerpoint/2010/main" val="3157240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F43BF-58BB-5517-5389-7726195C8D04}"/>
              </a:ext>
            </a:extLst>
          </p:cNvPr>
          <p:cNvSpPr>
            <a:spLocks noGrp="1"/>
          </p:cNvSpPr>
          <p:nvPr>
            <p:ph type="title"/>
          </p:nvPr>
        </p:nvSpPr>
        <p:spPr/>
        <p:txBody>
          <a:bodyPr/>
          <a:lstStyle/>
          <a:p>
            <a:r>
              <a:rPr lang="en-IN" b="1"/>
              <a:t>Problem statement </a:t>
            </a:r>
            <a:endParaRPr lang="en-US" b="1"/>
          </a:p>
        </p:txBody>
      </p:sp>
      <p:sp>
        <p:nvSpPr>
          <p:cNvPr id="3" name="Content Placeholder 2">
            <a:extLst>
              <a:ext uri="{FF2B5EF4-FFF2-40B4-BE49-F238E27FC236}">
                <a16:creationId xmlns:a16="http://schemas.microsoft.com/office/drawing/2014/main" id="{A232A6E9-3BD3-C9F9-8D7F-E3DD006DF701}"/>
              </a:ext>
            </a:extLst>
          </p:cNvPr>
          <p:cNvSpPr>
            <a:spLocks noGrp="1"/>
          </p:cNvSpPr>
          <p:nvPr>
            <p:ph idx="1"/>
          </p:nvPr>
        </p:nvSpPr>
        <p:spPr>
          <a:xfrm>
            <a:off x="333423" y="2893218"/>
            <a:ext cx="7143702" cy="3190875"/>
          </a:xfrm>
        </p:spPr>
        <p:txBody>
          <a:bodyPr>
            <a:normAutofit fontScale="92500"/>
          </a:bodyPr>
          <a:lstStyle/>
          <a:p>
            <a:r>
              <a:rPr lang="en-IN"/>
              <a:t>Farmers face difficulties in selecting the right crop for their land.
Weather changes can negatively impact crop production.
Improper irrigation leads to water wastage and reduced yields.
Excessive or insufficient fertilizer usage affects soil health.
Lack of real-time farm monitoring delays decision-making.
Predicting crop yield accurately is challenging for farmers.
There is a need for a smart system to optimize agricultural production.</a:t>
            </a:r>
            <a:endParaRPr lang="en-US"/>
          </a:p>
        </p:txBody>
      </p:sp>
      <p:pic>
        <p:nvPicPr>
          <p:cNvPr id="4" name="Picture 3">
            <a:extLst>
              <a:ext uri="{FF2B5EF4-FFF2-40B4-BE49-F238E27FC236}">
                <a16:creationId xmlns:a16="http://schemas.microsoft.com/office/drawing/2014/main" id="{672F29B9-B4B0-CBF3-9730-4BC089006991}"/>
              </a:ext>
            </a:extLst>
          </p:cNvPr>
          <p:cNvPicPr>
            <a:picLocks noChangeAspect="1"/>
          </p:cNvPicPr>
          <p:nvPr/>
        </p:nvPicPr>
        <p:blipFill>
          <a:blip r:embed="rId2"/>
          <a:stretch>
            <a:fillRect/>
          </a:stretch>
        </p:blipFill>
        <p:spPr>
          <a:xfrm>
            <a:off x="7477125" y="2977355"/>
            <a:ext cx="4521937" cy="3106738"/>
          </a:xfrm>
          <a:prstGeom prst="rect">
            <a:avLst/>
          </a:prstGeom>
        </p:spPr>
      </p:pic>
    </p:spTree>
    <p:extLst>
      <p:ext uri="{BB962C8B-B14F-4D97-AF65-F5344CB8AC3E}">
        <p14:creationId xmlns:p14="http://schemas.microsoft.com/office/powerpoint/2010/main" val="3984389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78DD2-77F0-8F24-ADAF-428E08B0C32F}"/>
              </a:ext>
            </a:extLst>
          </p:cNvPr>
          <p:cNvSpPr>
            <a:spLocks noGrp="1"/>
          </p:cNvSpPr>
          <p:nvPr>
            <p:ph type="title"/>
          </p:nvPr>
        </p:nvSpPr>
        <p:spPr/>
        <p:txBody>
          <a:bodyPr/>
          <a:lstStyle/>
          <a:p>
            <a:r>
              <a:rPr lang="en-IN" b="1"/>
              <a:t>Abstart </a:t>
            </a:r>
            <a:endParaRPr lang="en-US" b="1"/>
          </a:p>
        </p:txBody>
      </p:sp>
      <p:sp>
        <p:nvSpPr>
          <p:cNvPr id="3" name="Content Placeholder 2">
            <a:extLst>
              <a:ext uri="{FF2B5EF4-FFF2-40B4-BE49-F238E27FC236}">
                <a16:creationId xmlns:a16="http://schemas.microsoft.com/office/drawing/2014/main" id="{B2123246-8407-F5E5-3A6F-7C3477E48031}"/>
              </a:ext>
            </a:extLst>
          </p:cNvPr>
          <p:cNvSpPr>
            <a:spLocks noGrp="1"/>
          </p:cNvSpPr>
          <p:nvPr>
            <p:ph idx="1"/>
          </p:nvPr>
        </p:nvSpPr>
        <p:spPr>
          <a:xfrm>
            <a:off x="833485" y="2960687"/>
            <a:ext cx="6465046" cy="3416300"/>
          </a:xfrm>
        </p:spPr>
        <p:txBody>
          <a:bodyPr/>
          <a:lstStyle/>
          <a:p>
            <a:r>
              <a:rPr lang="en-IN"/>
              <a:t>OptiCrop is a smart agriculture system that uses AI and Machine Learning to help farmers make better decisions. It analyzes soil, weather, and crop data to provide accurate recommendations. The system optimizes irrigation and fertilizer usage, reduces resource wastage, and predicts crop yield. By offering real-time insights, OptiCrop improves productivity and promotes sustainable farming.</a:t>
            </a:r>
            <a:endParaRPr lang="en-US"/>
          </a:p>
        </p:txBody>
      </p:sp>
      <p:pic>
        <p:nvPicPr>
          <p:cNvPr id="4" name="Picture 3">
            <a:extLst>
              <a:ext uri="{FF2B5EF4-FFF2-40B4-BE49-F238E27FC236}">
                <a16:creationId xmlns:a16="http://schemas.microsoft.com/office/drawing/2014/main" id="{773F6B61-6589-139F-03F0-5DB759ED472A}"/>
              </a:ext>
            </a:extLst>
          </p:cNvPr>
          <p:cNvPicPr>
            <a:picLocks noChangeAspect="1"/>
          </p:cNvPicPr>
          <p:nvPr/>
        </p:nvPicPr>
        <p:blipFill>
          <a:blip r:embed="rId2"/>
          <a:stretch>
            <a:fillRect/>
          </a:stretch>
        </p:blipFill>
        <p:spPr>
          <a:xfrm>
            <a:off x="7786688" y="2744791"/>
            <a:ext cx="3655219" cy="2985096"/>
          </a:xfrm>
          <a:prstGeom prst="rect">
            <a:avLst/>
          </a:prstGeom>
        </p:spPr>
      </p:pic>
    </p:spTree>
    <p:extLst>
      <p:ext uri="{BB962C8B-B14F-4D97-AF65-F5344CB8AC3E}">
        <p14:creationId xmlns:p14="http://schemas.microsoft.com/office/powerpoint/2010/main" val="683128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C4FDD-3EA8-549F-4230-166FA39A0150}"/>
              </a:ext>
            </a:extLst>
          </p:cNvPr>
          <p:cNvSpPr>
            <a:spLocks noGrp="1"/>
          </p:cNvSpPr>
          <p:nvPr>
            <p:ph type="title"/>
          </p:nvPr>
        </p:nvSpPr>
        <p:spPr/>
        <p:txBody>
          <a:bodyPr/>
          <a:lstStyle/>
          <a:p>
            <a:r>
              <a:rPr lang="en-IN" b="1"/>
              <a:t>Proposed solution </a:t>
            </a:r>
            <a:endParaRPr lang="en-US" b="1"/>
          </a:p>
        </p:txBody>
      </p:sp>
      <p:sp>
        <p:nvSpPr>
          <p:cNvPr id="3" name="Content Placeholder 2">
            <a:extLst>
              <a:ext uri="{FF2B5EF4-FFF2-40B4-BE49-F238E27FC236}">
                <a16:creationId xmlns:a16="http://schemas.microsoft.com/office/drawing/2014/main" id="{46A69B07-B243-CCEB-36C0-B516B997FE08}"/>
              </a:ext>
            </a:extLst>
          </p:cNvPr>
          <p:cNvSpPr>
            <a:spLocks noGrp="1"/>
          </p:cNvSpPr>
          <p:nvPr>
            <p:ph idx="1"/>
          </p:nvPr>
        </p:nvSpPr>
        <p:spPr>
          <a:xfrm>
            <a:off x="726330" y="2468032"/>
            <a:ext cx="6167389" cy="3416300"/>
          </a:xfrm>
        </p:spPr>
        <p:txBody>
          <a:bodyPr/>
          <a:lstStyle/>
          <a:p>
            <a:r>
              <a:rPr lang="en-IN" b="1" dirty="0"/>
              <a:t>Weather based farming </a:t>
            </a:r>
            <a:r>
              <a:rPr lang="en-IN" b="1" dirty="0" err="1"/>
              <a:t>suggestion:</a:t>
            </a:r>
            <a:r>
              <a:rPr lang="en-IN" dirty="0" err="1"/>
              <a:t>Provides</a:t>
            </a:r>
            <a:r>
              <a:rPr lang="en-IN" dirty="0"/>
              <a:t> crop recommendations using weather forecasts.
</a:t>
            </a:r>
            <a:r>
              <a:rPr lang="en-IN" b="1" dirty="0"/>
              <a:t>Irrigation </a:t>
            </a:r>
            <a:r>
              <a:rPr lang="en-IN" b="1" dirty="0" err="1"/>
              <a:t>scheduling:</a:t>
            </a:r>
            <a:r>
              <a:rPr lang="en-IN" dirty="0" err="1"/>
              <a:t>Optimizes</a:t>
            </a:r>
            <a:r>
              <a:rPr lang="en-IN" dirty="0"/>
              <a:t> watering schedules for efficient water use.
</a:t>
            </a:r>
            <a:r>
              <a:rPr lang="en-IN" b="1" dirty="0"/>
              <a:t>Real-time </a:t>
            </a:r>
            <a:r>
              <a:rPr lang="en-IN" b="1" dirty="0" err="1"/>
              <a:t>Monitoring:</a:t>
            </a:r>
            <a:r>
              <a:rPr lang="en-IN" dirty="0" err="1"/>
              <a:t>Tracks</a:t>
            </a:r>
            <a:r>
              <a:rPr lang="en-IN" dirty="0"/>
              <a:t> farm conditions and crop status continuously.</a:t>
            </a:r>
            <a:endParaRPr lang="en-US" dirty="0"/>
          </a:p>
        </p:txBody>
      </p:sp>
      <p:pic>
        <p:nvPicPr>
          <p:cNvPr id="4" name="Picture 3">
            <a:extLst>
              <a:ext uri="{FF2B5EF4-FFF2-40B4-BE49-F238E27FC236}">
                <a16:creationId xmlns:a16="http://schemas.microsoft.com/office/drawing/2014/main" id="{2DAD3C3A-86B3-48F7-B4A6-67CB96E8BACC}"/>
              </a:ext>
            </a:extLst>
          </p:cNvPr>
          <p:cNvPicPr>
            <a:picLocks noChangeAspect="1"/>
          </p:cNvPicPr>
          <p:nvPr/>
        </p:nvPicPr>
        <p:blipFill>
          <a:blip r:embed="rId2"/>
          <a:stretch>
            <a:fillRect/>
          </a:stretch>
        </p:blipFill>
        <p:spPr>
          <a:xfrm>
            <a:off x="7167562" y="2667992"/>
            <a:ext cx="4540715" cy="3216340"/>
          </a:xfrm>
          <a:prstGeom prst="rect">
            <a:avLst/>
          </a:prstGeom>
        </p:spPr>
      </p:pic>
    </p:spTree>
    <p:extLst>
      <p:ext uri="{BB962C8B-B14F-4D97-AF65-F5344CB8AC3E}">
        <p14:creationId xmlns:p14="http://schemas.microsoft.com/office/powerpoint/2010/main" val="3965201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3C3DC-6A76-2AE4-E2A7-F0668503B511}"/>
              </a:ext>
            </a:extLst>
          </p:cNvPr>
          <p:cNvSpPr>
            <a:spLocks noGrp="1"/>
          </p:cNvSpPr>
          <p:nvPr>
            <p:ph type="title"/>
          </p:nvPr>
        </p:nvSpPr>
        <p:spPr/>
        <p:txBody>
          <a:bodyPr/>
          <a:lstStyle/>
          <a:p>
            <a:r>
              <a:rPr lang="en-IN" b="1"/>
              <a:t>Target users </a:t>
            </a:r>
            <a:endParaRPr lang="en-US" b="1"/>
          </a:p>
        </p:txBody>
      </p:sp>
      <p:sp>
        <p:nvSpPr>
          <p:cNvPr id="3" name="Content Placeholder 2">
            <a:extLst>
              <a:ext uri="{FF2B5EF4-FFF2-40B4-BE49-F238E27FC236}">
                <a16:creationId xmlns:a16="http://schemas.microsoft.com/office/drawing/2014/main" id="{61A898D4-6C62-4E30-DA21-5216DE077C17}"/>
              </a:ext>
            </a:extLst>
          </p:cNvPr>
          <p:cNvSpPr>
            <a:spLocks noGrp="1"/>
          </p:cNvSpPr>
          <p:nvPr>
            <p:ph idx="1"/>
          </p:nvPr>
        </p:nvSpPr>
        <p:spPr>
          <a:xfrm>
            <a:off x="559642" y="2603500"/>
            <a:ext cx="5678339" cy="3416300"/>
          </a:xfrm>
        </p:spPr>
        <p:txBody>
          <a:bodyPr/>
          <a:lstStyle/>
          <a:p>
            <a:r>
              <a:rPr lang="en-IN" b="1"/>
              <a:t>Farmers</a:t>
            </a:r>
            <a:r>
              <a:rPr lang="en-IN"/>
              <a:t>: Make better crop and farming decisions.
</a:t>
            </a:r>
            <a:r>
              <a:rPr lang="en-IN" b="1"/>
              <a:t>Agriculture consultants:</a:t>
            </a:r>
            <a:r>
              <a:rPr lang="en-IN"/>
              <a:t>Provide data-driven farming guidance.
</a:t>
            </a:r>
            <a:r>
              <a:rPr lang="en-IN" b="1"/>
              <a:t>Research optimization:</a:t>
            </a:r>
            <a:r>
              <a:rPr lang="en-IN"/>
              <a:t>Analyze data for agricultural innovation.
</a:t>
            </a:r>
            <a:r>
              <a:rPr lang="en-IN" b="1"/>
              <a:t>Farm owners</a:t>
            </a:r>
            <a:r>
              <a:rPr lang="en-IN"/>
              <a:t>: Monitor farm performance and productivity.</a:t>
            </a:r>
            <a:endParaRPr lang="en-US"/>
          </a:p>
        </p:txBody>
      </p:sp>
      <p:pic>
        <p:nvPicPr>
          <p:cNvPr id="4" name="Picture 3">
            <a:extLst>
              <a:ext uri="{FF2B5EF4-FFF2-40B4-BE49-F238E27FC236}">
                <a16:creationId xmlns:a16="http://schemas.microsoft.com/office/drawing/2014/main" id="{5A17B4AF-A024-7CCA-5B2C-3DC82352312F}"/>
              </a:ext>
            </a:extLst>
          </p:cNvPr>
          <p:cNvPicPr>
            <a:picLocks noChangeAspect="1"/>
          </p:cNvPicPr>
          <p:nvPr/>
        </p:nvPicPr>
        <p:blipFill>
          <a:blip r:embed="rId2"/>
          <a:stretch>
            <a:fillRect/>
          </a:stretch>
        </p:blipFill>
        <p:spPr>
          <a:xfrm>
            <a:off x="6715125" y="2603500"/>
            <a:ext cx="5060156" cy="3542109"/>
          </a:xfrm>
          <a:prstGeom prst="rect">
            <a:avLst/>
          </a:prstGeom>
        </p:spPr>
      </p:pic>
    </p:spTree>
    <p:extLst>
      <p:ext uri="{BB962C8B-B14F-4D97-AF65-F5344CB8AC3E}">
        <p14:creationId xmlns:p14="http://schemas.microsoft.com/office/powerpoint/2010/main" val="127175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DAA71-0101-0E35-311E-21F8D5C831E4}"/>
              </a:ext>
            </a:extLst>
          </p:cNvPr>
          <p:cNvSpPr>
            <a:spLocks noGrp="1"/>
          </p:cNvSpPr>
          <p:nvPr>
            <p:ph type="title"/>
          </p:nvPr>
        </p:nvSpPr>
        <p:spPr/>
        <p:txBody>
          <a:bodyPr/>
          <a:lstStyle/>
          <a:p>
            <a:r>
              <a:rPr lang="en-IN" b="1"/>
              <a:t>Sample outcomes </a:t>
            </a:r>
            <a:endParaRPr lang="en-US" b="1"/>
          </a:p>
        </p:txBody>
      </p:sp>
      <p:pic>
        <p:nvPicPr>
          <p:cNvPr id="4" name="Content Placeholder 3">
            <a:extLst>
              <a:ext uri="{FF2B5EF4-FFF2-40B4-BE49-F238E27FC236}">
                <a16:creationId xmlns:a16="http://schemas.microsoft.com/office/drawing/2014/main" id="{28D0D58C-35E9-82F4-1915-9AADBA25D6FC}"/>
              </a:ext>
            </a:extLst>
          </p:cNvPr>
          <p:cNvPicPr>
            <a:picLocks noGrp="1" noChangeAspect="1"/>
          </p:cNvPicPr>
          <p:nvPr>
            <p:ph idx="1"/>
          </p:nvPr>
        </p:nvPicPr>
        <p:blipFill>
          <a:blip r:embed="rId2"/>
          <a:stretch>
            <a:fillRect/>
          </a:stretch>
        </p:blipFill>
        <p:spPr>
          <a:xfrm>
            <a:off x="2016749" y="2432671"/>
            <a:ext cx="3911351" cy="4179094"/>
          </a:xfrm>
          <a:prstGeom prst="rect">
            <a:avLst/>
          </a:prstGeom>
        </p:spPr>
      </p:pic>
      <p:pic>
        <p:nvPicPr>
          <p:cNvPr id="5" name="Picture 4">
            <a:extLst>
              <a:ext uri="{FF2B5EF4-FFF2-40B4-BE49-F238E27FC236}">
                <a16:creationId xmlns:a16="http://schemas.microsoft.com/office/drawing/2014/main" id="{36031401-8ACF-8DAB-E983-419FA7C6CB44}"/>
              </a:ext>
            </a:extLst>
          </p:cNvPr>
          <p:cNvPicPr>
            <a:picLocks noChangeAspect="1"/>
          </p:cNvPicPr>
          <p:nvPr/>
        </p:nvPicPr>
        <p:blipFill>
          <a:blip r:embed="rId3"/>
          <a:stretch>
            <a:fillRect/>
          </a:stretch>
        </p:blipFill>
        <p:spPr>
          <a:xfrm>
            <a:off x="6406777" y="2797969"/>
            <a:ext cx="4792118" cy="3900934"/>
          </a:xfrm>
          <a:prstGeom prst="rect">
            <a:avLst/>
          </a:prstGeom>
        </p:spPr>
      </p:pic>
    </p:spTree>
    <p:extLst>
      <p:ext uri="{BB962C8B-B14F-4D97-AF65-F5344CB8AC3E}">
        <p14:creationId xmlns:p14="http://schemas.microsoft.com/office/powerpoint/2010/main" val="1102772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59363-7874-597F-F9FA-EED14F606981}"/>
              </a:ext>
            </a:extLst>
          </p:cNvPr>
          <p:cNvSpPr>
            <a:spLocks noGrp="1"/>
          </p:cNvSpPr>
          <p:nvPr>
            <p:ph type="title"/>
          </p:nvPr>
        </p:nvSpPr>
        <p:spPr/>
        <p:txBody>
          <a:bodyPr/>
          <a:lstStyle/>
          <a:p>
            <a:r>
              <a:rPr lang="en-IN" b="1"/>
              <a:t>Use cases </a:t>
            </a:r>
            <a:endParaRPr lang="en-US" b="1"/>
          </a:p>
        </p:txBody>
      </p:sp>
      <p:sp>
        <p:nvSpPr>
          <p:cNvPr id="3" name="Content Placeholder 2">
            <a:extLst>
              <a:ext uri="{FF2B5EF4-FFF2-40B4-BE49-F238E27FC236}">
                <a16:creationId xmlns:a16="http://schemas.microsoft.com/office/drawing/2014/main" id="{FC8FD615-25C0-A09C-50A2-76815C0D7348}"/>
              </a:ext>
            </a:extLst>
          </p:cNvPr>
          <p:cNvSpPr>
            <a:spLocks noGrp="1"/>
          </p:cNvSpPr>
          <p:nvPr>
            <p:ph idx="1"/>
          </p:nvPr>
        </p:nvSpPr>
        <p:spPr/>
        <p:txBody>
          <a:bodyPr/>
          <a:lstStyle/>
          <a:p>
            <a:r>
              <a:rPr lang="en-IN" b="1"/>
              <a:t>Crop Selection Assistance
Yield Prediction
Smart Irrigation Management
Fertilizer Recommendation
Weather Risk Assessment
Farm Productivity Optimization</a:t>
            </a:r>
            <a:endParaRPr lang="en-US" b="1"/>
          </a:p>
        </p:txBody>
      </p:sp>
      <p:pic>
        <p:nvPicPr>
          <p:cNvPr id="4" name="Picture 3">
            <a:extLst>
              <a:ext uri="{FF2B5EF4-FFF2-40B4-BE49-F238E27FC236}">
                <a16:creationId xmlns:a16="http://schemas.microsoft.com/office/drawing/2014/main" id="{0514F3FE-8712-EE49-1076-15CD40ABBA89}"/>
              </a:ext>
            </a:extLst>
          </p:cNvPr>
          <p:cNvPicPr>
            <a:picLocks noChangeAspect="1"/>
          </p:cNvPicPr>
          <p:nvPr/>
        </p:nvPicPr>
        <p:blipFill>
          <a:blip r:embed="rId2"/>
          <a:stretch>
            <a:fillRect/>
          </a:stretch>
        </p:blipFill>
        <p:spPr>
          <a:xfrm>
            <a:off x="6691313" y="2382617"/>
            <a:ext cx="3998763" cy="3858066"/>
          </a:xfrm>
          <a:prstGeom prst="rect">
            <a:avLst/>
          </a:prstGeom>
        </p:spPr>
      </p:pic>
    </p:spTree>
    <p:extLst>
      <p:ext uri="{BB962C8B-B14F-4D97-AF65-F5344CB8AC3E}">
        <p14:creationId xmlns:p14="http://schemas.microsoft.com/office/powerpoint/2010/main" val="2094586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ADB03-2C0F-02D9-1A19-ADCE1BEC0594}"/>
              </a:ext>
            </a:extLst>
          </p:cNvPr>
          <p:cNvSpPr>
            <a:spLocks noGrp="1"/>
          </p:cNvSpPr>
          <p:nvPr>
            <p:ph type="title"/>
          </p:nvPr>
        </p:nvSpPr>
        <p:spPr/>
        <p:txBody>
          <a:bodyPr/>
          <a:lstStyle/>
          <a:p>
            <a:r>
              <a:rPr lang="en-IN" b="1"/>
              <a:t>How it will work</a:t>
            </a:r>
            <a:endParaRPr lang="en-US" b="1"/>
          </a:p>
        </p:txBody>
      </p:sp>
      <p:sp>
        <p:nvSpPr>
          <p:cNvPr id="3" name="Content Placeholder 2">
            <a:extLst>
              <a:ext uri="{FF2B5EF4-FFF2-40B4-BE49-F238E27FC236}">
                <a16:creationId xmlns:a16="http://schemas.microsoft.com/office/drawing/2014/main" id="{EDBB9564-3F94-93F3-D74D-577BCCD1CE0E}"/>
              </a:ext>
            </a:extLst>
          </p:cNvPr>
          <p:cNvSpPr>
            <a:spLocks noGrp="1"/>
          </p:cNvSpPr>
          <p:nvPr>
            <p:ph idx="1"/>
          </p:nvPr>
        </p:nvSpPr>
        <p:spPr/>
        <p:txBody>
          <a:bodyPr>
            <a:normAutofit fontScale="92500" lnSpcReduction="20000"/>
          </a:bodyPr>
          <a:lstStyle/>
          <a:p>
            <a:r>
              <a:rPr lang="en-IN"/>
              <a:t>Farmer enters farm details – Farmers provide information such as soil type, location, and crop preferences.
System collects soil and weather data – The system gathers real-time environmental and agricultural data.
AI model analyzes information – Artificial Intelligence processes the collected data to identify the best farming strategies.
Recommendations are generated – The system provides personalized suggestions for crops, irrigation, and fertilizers.
Farmer follows suggestions – Farmers implement the recommended actions to improve farming practices.
Production and yield improve – Optimized decisions lead to higher crop productivity and better harvest outcomes.</a:t>
            </a:r>
            <a:endParaRPr lang="en-US"/>
          </a:p>
        </p:txBody>
      </p:sp>
    </p:spTree>
    <p:extLst>
      <p:ext uri="{BB962C8B-B14F-4D97-AF65-F5344CB8AC3E}">
        <p14:creationId xmlns:p14="http://schemas.microsoft.com/office/powerpoint/2010/main" val="985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F3EF4-CD4B-E000-EEF4-A11339796D69}"/>
              </a:ext>
            </a:extLst>
          </p:cNvPr>
          <p:cNvSpPr>
            <a:spLocks noGrp="1"/>
          </p:cNvSpPr>
          <p:nvPr>
            <p:ph type="title"/>
          </p:nvPr>
        </p:nvSpPr>
        <p:spPr/>
        <p:txBody>
          <a:bodyPr/>
          <a:lstStyle/>
          <a:p>
            <a:r>
              <a:rPr lang="en-IN" b="1"/>
              <a:t>Summary </a:t>
            </a:r>
            <a:endParaRPr lang="en-US" b="1"/>
          </a:p>
        </p:txBody>
      </p:sp>
      <p:sp>
        <p:nvSpPr>
          <p:cNvPr id="3" name="Content Placeholder 2">
            <a:extLst>
              <a:ext uri="{FF2B5EF4-FFF2-40B4-BE49-F238E27FC236}">
                <a16:creationId xmlns:a16="http://schemas.microsoft.com/office/drawing/2014/main" id="{FAAEE6E1-7DFF-7489-7E29-87092000D090}"/>
              </a:ext>
            </a:extLst>
          </p:cNvPr>
          <p:cNvSpPr>
            <a:spLocks noGrp="1"/>
          </p:cNvSpPr>
          <p:nvPr>
            <p:ph idx="1"/>
          </p:nvPr>
        </p:nvSpPr>
        <p:spPr>
          <a:xfrm>
            <a:off x="881110" y="2805907"/>
            <a:ext cx="5762577" cy="3416300"/>
          </a:xfrm>
        </p:spPr>
        <p:txBody>
          <a:bodyPr/>
          <a:lstStyle/>
          <a:p>
            <a:r>
              <a:rPr lang="en-IN" b="1"/>
              <a:t>OptiCrop is a smart agricultural production optimization system that uses AI and Machine Learning to improve farming efficiency. It analyzes soil, weather, and crop data to provide accurate recommendations. The system helps optimize irrigation and fertilizer usage, predicts crop yield, and supports sustainable agriculture through intelligent decision-making.</a:t>
            </a:r>
            <a:endParaRPr lang="en-US" b="1"/>
          </a:p>
        </p:txBody>
      </p:sp>
      <p:pic>
        <p:nvPicPr>
          <p:cNvPr id="4" name="Picture 3">
            <a:extLst>
              <a:ext uri="{FF2B5EF4-FFF2-40B4-BE49-F238E27FC236}">
                <a16:creationId xmlns:a16="http://schemas.microsoft.com/office/drawing/2014/main" id="{5B7A3B38-0086-0BCD-8157-23A7EDFD202D}"/>
              </a:ext>
            </a:extLst>
          </p:cNvPr>
          <p:cNvPicPr>
            <a:picLocks noChangeAspect="1"/>
          </p:cNvPicPr>
          <p:nvPr/>
        </p:nvPicPr>
        <p:blipFill>
          <a:blip r:embed="rId2"/>
          <a:stretch>
            <a:fillRect/>
          </a:stretch>
        </p:blipFill>
        <p:spPr>
          <a:xfrm>
            <a:off x="7786081" y="2446073"/>
            <a:ext cx="2612496" cy="3935677"/>
          </a:xfrm>
          <a:prstGeom prst="rect">
            <a:avLst/>
          </a:prstGeom>
        </p:spPr>
      </p:pic>
    </p:spTree>
    <p:extLst>
      <p:ext uri="{BB962C8B-B14F-4D97-AF65-F5344CB8AC3E}">
        <p14:creationId xmlns:p14="http://schemas.microsoft.com/office/powerpoint/2010/main" val="2717744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CFF6D-3919-7796-D89A-47D4D9348C4B}"/>
              </a:ext>
            </a:extLst>
          </p:cNvPr>
          <p:cNvSpPr>
            <a:spLocks noGrp="1"/>
          </p:cNvSpPr>
          <p:nvPr>
            <p:ph type="title"/>
          </p:nvPr>
        </p:nvSpPr>
        <p:spPr/>
        <p:txBody>
          <a:bodyPr/>
          <a:lstStyle/>
          <a:p>
            <a:r>
              <a:rPr lang="en-IN" b="1"/>
              <a:t>Future and conclusion </a:t>
            </a:r>
            <a:endParaRPr lang="en-US" b="1"/>
          </a:p>
        </p:txBody>
      </p:sp>
      <p:sp>
        <p:nvSpPr>
          <p:cNvPr id="3" name="Content Placeholder 2">
            <a:extLst>
              <a:ext uri="{FF2B5EF4-FFF2-40B4-BE49-F238E27FC236}">
                <a16:creationId xmlns:a16="http://schemas.microsoft.com/office/drawing/2014/main" id="{E3BED759-CBCB-94D0-5588-D3054359527D}"/>
              </a:ext>
            </a:extLst>
          </p:cNvPr>
          <p:cNvSpPr>
            <a:spLocks noGrp="1"/>
          </p:cNvSpPr>
          <p:nvPr>
            <p:ph idx="1"/>
          </p:nvPr>
        </p:nvSpPr>
        <p:spPr>
          <a:xfrm>
            <a:off x="1154954" y="2603500"/>
            <a:ext cx="9084421" cy="3416300"/>
          </a:xfrm>
        </p:spPr>
        <p:txBody>
          <a:bodyPr/>
          <a:lstStyle/>
          <a:p>
            <a:r>
              <a:rPr lang="en-IN" b="1"/>
              <a:t>Future:</a:t>
            </a:r>
          </a:p>
          <a:p>
            <a:pPr marL="0" indent="0">
              <a:buNone/>
            </a:pPr>
            <a:r>
              <a:rPr lang="en-IN">
                <a:solidFill>
                  <a:schemeClr val="tx1"/>
                </a:solidFill>
              </a:rPr>
              <a:t>       In the future, OptiCrop can be integrated with IoT sensors and satellite     data for more accurate monitoring. It can also include pest and disease detection, mobile app support, and advanced AI models for improved crop management and prediction.</a:t>
            </a:r>
          </a:p>
          <a:p>
            <a:r>
              <a:rPr lang="en-IN" b="1">
                <a:solidFill>
                  <a:schemeClr val="tx1"/>
                </a:solidFill>
              </a:rPr>
              <a:t>Conclusion  </a:t>
            </a:r>
          </a:p>
          <a:p>
            <a:pPr marL="0" indent="0">
              <a:buNone/>
            </a:pPr>
            <a:r>
              <a:rPr lang="en-IN" b="1">
                <a:solidFill>
                  <a:schemeClr val="tx1"/>
                </a:solidFill>
              </a:rPr>
              <a:t>     </a:t>
            </a:r>
            <a:r>
              <a:rPr lang="en-IN">
                <a:solidFill>
                  <a:schemeClr val="tx1"/>
                </a:solidFill>
              </a:rPr>
              <a:t>OptiCrop is an intelligent agricultural solution that helps farmers make better decisions using AI and Machine Learning. By optimizing resources and improving crop productivity, it supports efficient and sustainable farming practices.</a:t>
            </a:r>
            <a:endParaRPr lang="en-IN" b="1">
              <a:solidFill>
                <a:schemeClr val="tx1"/>
              </a:solidFill>
            </a:endParaRPr>
          </a:p>
        </p:txBody>
      </p:sp>
    </p:spTree>
    <p:extLst>
      <p:ext uri="{BB962C8B-B14F-4D97-AF65-F5344CB8AC3E}">
        <p14:creationId xmlns:p14="http://schemas.microsoft.com/office/powerpoint/2010/main" val="3604980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A5E18A-980D-B4D5-0192-2DFCC7EB97A6}"/>
              </a:ext>
            </a:extLst>
          </p:cNvPr>
          <p:cNvSpPr>
            <a:spLocks noGrp="1"/>
          </p:cNvSpPr>
          <p:nvPr>
            <p:ph idx="1"/>
          </p:nvPr>
        </p:nvSpPr>
        <p:spPr>
          <a:xfrm>
            <a:off x="3774329" y="3727450"/>
            <a:ext cx="8825659" cy="3416300"/>
          </a:xfrm>
        </p:spPr>
        <p:txBody>
          <a:bodyPr>
            <a:normAutofit/>
          </a:bodyPr>
          <a:lstStyle/>
          <a:p>
            <a:pPr marL="0" indent="0">
              <a:buNone/>
            </a:pPr>
            <a:r>
              <a:rPr lang="en-IN" sz="6000" b="1"/>
              <a:t>Thank you</a:t>
            </a:r>
            <a:endParaRPr lang="en-US" sz="6000" b="1"/>
          </a:p>
        </p:txBody>
      </p:sp>
    </p:spTree>
    <p:extLst>
      <p:ext uri="{BB962C8B-B14F-4D97-AF65-F5344CB8AC3E}">
        <p14:creationId xmlns:p14="http://schemas.microsoft.com/office/powerpoint/2010/main" val="13816331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TF10001029" id="{ED3996BA-162B-43C7-B0E2-A5CA4E649741}" vid="{187088E4-27D7-4455-856F-4A44258D82E2}"/>
    </a:ext>
  </a:extLst>
</a:theme>
</file>

<file path=docProps/app.xml><?xml version="1.0" encoding="utf-8"?>
<Properties xmlns="http://schemas.openxmlformats.org/officeDocument/2006/extended-properties" xmlns:vt="http://schemas.openxmlformats.org/officeDocument/2006/docPropsVTypes">
  <TotalTime>0</TotalTime>
  <Words>552</Words>
  <Application>Microsoft Office PowerPoint</Application>
  <PresentationFormat>Widescreen</PresentationFormat>
  <Paragraphs>40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Century Gothic</vt:lpstr>
      <vt:lpstr>Wingdings 3</vt:lpstr>
      <vt:lpstr>Ion Boardroom</vt:lpstr>
      <vt:lpstr>Opticrop: Smart Agricultural production optimization engine</vt:lpstr>
      <vt:lpstr>List of the contents </vt:lpstr>
      <vt:lpstr>Problem statement </vt:lpstr>
      <vt:lpstr>Abstart </vt:lpstr>
      <vt:lpstr>Proposed solution </vt:lpstr>
      <vt:lpstr>Target users </vt:lpstr>
      <vt:lpstr>Sample outcomes </vt:lpstr>
      <vt:lpstr>Use cases </vt:lpstr>
      <vt:lpstr>How it will work</vt:lpstr>
      <vt:lpstr>Summary </vt:lpstr>
      <vt:lpstr>Future and 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Guest User</dc:creator>
  <cp:lastModifiedBy>Chaitu Varadaiahgari</cp:lastModifiedBy>
  <cp:revision>2</cp:revision>
  <dcterms:created xsi:type="dcterms:W3CDTF">2026-06-30T16:21:41Z</dcterms:created>
  <dcterms:modified xsi:type="dcterms:W3CDTF">2026-07-01T14:05:56Z</dcterms:modified>
</cp:coreProperties>
</file>